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A81CBF3-561A-47B4-8083-7CC2F28F60D7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B909ED9-3FA0-4583-B83D-9C193561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552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1CBF3-561A-47B4-8083-7CC2F28F60D7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B909ED9-3FA0-4583-B83D-9C193561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582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A81CBF3-561A-47B4-8083-7CC2F28F60D7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B909ED9-3FA0-4583-B83D-9C193561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01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1CBF3-561A-47B4-8083-7CC2F28F60D7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09ED9-3FA0-4583-B83D-9C193561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38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1CBF3-561A-47B4-8083-7CC2F28F60D7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09ED9-3FA0-4583-B83D-9C193561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6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1CBF3-561A-47B4-8083-7CC2F28F60D7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09ED9-3FA0-4583-B83D-9C193561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80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1CBF3-561A-47B4-8083-7CC2F28F60D7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09ED9-3FA0-4583-B83D-9C193561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801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A81CBF3-561A-47B4-8083-7CC2F28F60D7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B909ED9-3FA0-4583-B83D-9C193561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67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1CBF3-561A-47B4-8083-7CC2F28F60D7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09ED9-3FA0-4583-B83D-9C193561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259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1CBF3-561A-47B4-8083-7CC2F28F60D7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09ED9-3FA0-4583-B83D-9C193561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46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A81CBF3-561A-47B4-8083-7CC2F28F60D7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B909ED9-3FA0-4583-B83D-9C193561C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385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A81CBF3-561A-47B4-8083-7CC2F28F60D7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B909ED9-3FA0-4583-B83D-9C193561C46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9766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D900-18E2-CD63-1BB3-3F27AED769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Etiquette for Handling Clients and Customers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B0DE8A-A731-FEC3-AE4E-D9D440087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938996" cy="2328334"/>
          </a:xfrm>
        </p:spPr>
        <p:txBody>
          <a:bodyPr>
            <a:normAutofit fontScale="77500" lnSpcReduction="20000"/>
          </a:bodyPr>
          <a:lstStyle/>
          <a:p>
            <a:r>
              <a:rPr lang="en-US" sz="2600" b="1" dirty="0">
                <a:solidFill>
                  <a:schemeClr val="bg1"/>
                </a:solidFill>
              </a:rPr>
              <a:t>Subject: Corporate Grooming and Etiquette</a:t>
            </a:r>
          </a:p>
          <a:p>
            <a:r>
              <a:rPr lang="en-US" sz="2600" b="1" dirty="0">
                <a:solidFill>
                  <a:schemeClr val="bg1"/>
                </a:solidFill>
              </a:rPr>
              <a:t>Prepared by: Dhrumil Patel</a:t>
            </a:r>
          </a:p>
          <a:p>
            <a:r>
              <a:rPr lang="en-US" sz="2600" b="1" dirty="0">
                <a:solidFill>
                  <a:schemeClr val="bg1"/>
                </a:solidFill>
              </a:rPr>
              <a:t>                        Jay bhadiyadra</a:t>
            </a:r>
          </a:p>
          <a:p>
            <a:r>
              <a:rPr lang="en-US" sz="2600" b="1" dirty="0">
                <a:solidFill>
                  <a:schemeClr val="bg1"/>
                </a:solidFill>
              </a:rPr>
              <a:t>                        Kirtansinh Vansia</a:t>
            </a:r>
          </a:p>
          <a:p>
            <a:r>
              <a:rPr lang="en-US" sz="2600" b="1" dirty="0">
                <a:solidFill>
                  <a:schemeClr val="bg1"/>
                </a:solidFill>
              </a:rPr>
              <a:t>IT-6A / Btech IT / P P Savani University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1896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B5EE3-3C94-A485-6AE0-9D2BBE4DA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Introduction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87E13-51FB-1D72-5B43-4F8086AB7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500" b="1" dirty="0"/>
              <a:t>Clients and customers are an important part of any business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The way we interact with them affects the company’s image</a:t>
            </a:r>
          </a:p>
          <a:p>
            <a:endParaRPr lang="en-US" sz="2500" b="1" dirty="0"/>
          </a:p>
          <a:p>
            <a:r>
              <a:rPr lang="en-US" sz="2500" b="1" dirty="0"/>
              <a:t>Good etiquette helps in building long-term relationships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Professional behavior creates trust and satisfaction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844451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E8F65-DFA9-CA77-8F38-34065F20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49" y="823769"/>
            <a:ext cx="10946779" cy="1356727"/>
          </a:xfrm>
        </p:spPr>
        <p:txBody>
          <a:bodyPr>
            <a:noAutofit/>
          </a:bodyPr>
          <a:lstStyle/>
          <a:p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b="1" dirty="0"/>
              <a:t>Meaning of Client Handling Etiquette</a:t>
            </a:r>
            <a:br>
              <a:rPr lang="en-US" b="1" dirty="0"/>
            </a:b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D3010-224C-0AAB-EF54-FF1AE90AC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500" b="1" dirty="0"/>
              <a:t>It refers to proper behavior while dealing with clients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Includes communication, attitude, and professionalism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Focuses on respect, patience, and understanding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Helps create a positive experience for customers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6499574"/>
      </p:ext>
    </p:extLst>
  </p:cSld>
  <p:clrMapOvr>
    <a:masterClrMapping/>
  </p:clrMapOvr>
  <p:transition spd="slow">
    <p:comb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A9CC4-095D-62DE-991B-4200C8FC9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66695"/>
            <a:ext cx="11029616" cy="1013800"/>
          </a:xfrm>
        </p:spPr>
        <p:txBody>
          <a:bodyPr>
            <a:noAutofit/>
          </a:bodyPr>
          <a:lstStyle/>
          <a:p>
            <a:r>
              <a:rPr lang="en-IN" b="1" dirty="0"/>
              <a:t>Importance in Corporate Life</a:t>
            </a: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C21C9-A337-5536-AC1E-201A48C0A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5"/>
            <a:ext cx="11029615" cy="4605315"/>
          </a:xfrm>
        </p:spPr>
        <p:txBody>
          <a:bodyPr>
            <a:noAutofit/>
          </a:bodyPr>
          <a:lstStyle/>
          <a:p>
            <a:r>
              <a:rPr lang="en-US" sz="2500" b="1" dirty="0"/>
              <a:t>Builds strong business relationships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Improves customer satisfaction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Creates a positive brand image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Helps in customer retention and loyalty</a:t>
            </a:r>
          </a:p>
          <a:p>
            <a:pPr marL="0" indent="0">
              <a:buNone/>
            </a:pPr>
            <a:br>
              <a:rPr lang="en-US" sz="2500" dirty="0"/>
            </a:b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75361821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1B2AA-2ECA-36C5-7C21-2437595B8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First Impression Matters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89EE8-41AC-EC5F-49F3-221EF4EEA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677504"/>
          </a:xfrm>
        </p:spPr>
        <p:txBody>
          <a:bodyPr>
            <a:normAutofit/>
          </a:bodyPr>
          <a:lstStyle/>
          <a:p>
            <a:r>
              <a:rPr lang="en-US" sz="2500" b="1" dirty="0"/>
              <a:t>Greet clients politely with a smile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Maintain proper body language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Dress professionally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Be confident but respectful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2592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19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159AD-9803-D87D-64E4-12073E324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821898"/>
            <a:ext cx="11029616" cy="1013800"/>
          </a:xfrm>
        </p:spPr>
        <p:txBody>
          <a:bodyPr>
            <a:normAutofit/>
          </a:bodyPr>
          <a:lstStyle/>
          <a:p>
            <a:r>
              <a:rPr lang="en-IN" b="1" dirty="0"/>
              <a:t>Effective Communication Skills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2189C-F273-AB44-0BB3-29225AEE1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586064"/>
          </a:xfrm>
        </p:spPr>
        <p:txBody>
          <a:bodyPr>
            <a:normAutofit/>
          </a:bodyPr>
          <a:lstStyle/>
          <a:p>
            <a:r>
              <a:rPr lang="en-US" sz="2500" b="1" dirty="0"/>
              <a:t>Speak clearly and politely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Listen carefully without interrupting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Use simple and understandable language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Maintain eye contact during conversations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609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989C2-FB2D-6B84-00D2-5F6CBB179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66696"/>
            <a:ext cx="11029616" cy="1013800"/>
          </a:xfrm>
        </p:spPr>
        <p:txBody>
          <a:bodyPr>
            <a:noAutofit/>
          </a:bodyPr>
          <a:lstStyle/>
          <a:p>
            <a:r>
              <a:rPr lang="en-IN" b="1" dirty="0"/>
              <a:t> Active Listening</a:t>
            </a: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A54B2-340A-E504-EBFA-F9DA2ED2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557188"/>
          </a:xfrm>
        </p:spPr>
        <p:txBody>
          <a:bodyPr>
            <a:normAutofit/>
          </a:bodyPr>
          <a:lstStyle/>
          <a:p>
            <a:r>
              <a:rPr lang="en-US" sz="2500" b="1" dirty="0"/>
              <a:t>Pay full attention to the client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Understand their needs and concerns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Ask questions if something is unclear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Show that you value their opinions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0372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erris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03906-C807-344D-B0C2-2A3AA49A0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Professional Behavior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A32D5-DCF7-EB5D-8092-670BE1388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5"/>
            <a:ext cx="11029615" cy="4537939"/>
          </a:xfrm>
        </p:spPr>
        <p:txBody>
          <a:bodyPr>
            <a:normAutofit/>
          </a:bodyPr>
          <a:lstStyle/>
          <a:p>
            <a:r>
              <a:rPr lang="en-US" sz="2500" b="1" dirty="0"/>
              <a:t>Stay calm and composed at all times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Avoid arguments or rude tone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Be honest and transparent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Respect client time and commitments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3889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honeycomb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1BD9-2CB8-7635-277C-D619561D8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811013"/>
            <a:ext cx="11029616" cy="1013800"/>
          </a:xfrm>
        </p:spPr>
        <p:txBody>
          <a:bodyPr>
            <a:normAutofit/>
          </a:bodyPr>
          <a:lstStyle/>
          <a:p>
            <a:r>
              <a:rPr lang="en-IN" b="1" dirty="0"/>
              <a:t> Handling Difficult Clients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AF1A9-BDAC-FE10-9BD3-8B9F56527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5009576"/>
          </a:xfrm>
        </p:spPr>
        <p:txBody>
          <a:bodyPr>
            <a:normAutofit/>
          </a:bodyPr>
          <a:lstStyle/>
          <a:p>
            <a:r>
              <a:rPr lang="en-US" sz="2500" b="1" dirty="0"/>
              <a:t>Stay patient and do not react emotionally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Listen to complaints carefully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Apologize if needed and offer solutions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Focus on solving the problem, not blaming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8997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20D6-A8C5-13FE-A82A-78C6649DC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268212"/>
            <a:ext cx="11029616" cy="1013800"/>
          </a:xfrm>
        </p:spPr>
        <p:txBody>
          <a:bodyPr>
            <a:noAutofit/>
          </a:bodyPr>
          <a:lstStyle/>
          <a:p>
            <a:r>
              <a:rPr lang="en-US" b="1" dirty="0"/>
              <a:t> Body Language and Non-Verbal Etiquette</a:t>
            </a:r>
            <a:br>
              <a:rPr lang="en-US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9AD28-D844-3600-2316-F0CB7B4A6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5"/>
            <a:ext cx="11029615" cy="5279083"/>
          </a:xfrm>
        </p:spPr>
        <p:txBody>
          <a:bodyPr>
            <a:noAutofit/>
          </a:bodyPr>
          <a:lstStyle/>
          <a:p>
            <a:r>
              <a:rPr lang="en-US" sz="2500" b="1" dirty="0"/>
              <a:t>Maintain positive posture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Use appropriate gestures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Avoid crossing arms or showing disinterest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Smile when appropriate</a:t>
            </a:r>
          </a:p>
          <a:p>
            <a:pPr marL="0" indent="0">
              <a:buNone/>
            </a:pPr>
            <a:br>
              <a:rPr lang="en-US" sz="2500" b="1" dirty="0"/>
            </a:br>
            <a:endParaRPr lang="en-IN" sz="2500" b="1" dirty="0"/>
          </a:p>
        </p:txBody>
      </p:sp>
    </p:spTree>
    <p:extLst>
      <p:ext uri="{BB962C8B-B14F-4D97-AF65-F5344CB8AC3E}">
        <p14:creationId xmlns:p14="http://schemas.microsoft.com/office/powerpoint/2010/main" val="1037135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A640C-557A-180C-C61C-497271795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370" y="1166696"/>
            <a:ext cx="11029616" cy="1013800"/>
          </a:xfrm>
        </p:spPr>
        <p:txBody>
          <a:bodyPr>
            <a:noAutofit/>
          </a:bodyPr>
          <a:lstStyle/>
          <a:p>
            <a:r>
              <a:rPr lang="en-IN" b="1" dirty="0"/>
              <a:t>Telephone and Email Etiquette</a:t>
            </a: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9AF6B-FC6C-ADFB-0C15-16DE1956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383590"/>
          </a:xfrm>
        </p:spPr>
        <p:txBody>
          <a:bodyPr>
            <a:normAutofit lnSpcReduction="10000"/>
          </a:bodyPr>
          <a:lstStyle/>
          <a:p>
            <a:r>
              <a:rPr lang="en-US" sz="2500" b="1" dirty="0"/>
              <a:t>Speak politely on calls and introduce yourself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Respond to emails on time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Use professional language in emails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Avoid short or rude replies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5706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291D9-D47C-2BA3-3E5C-956CD4561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66696"/>
            <a:ext cx="11029616" cy="1013800"/>
          </a:xfrm>
        </p:spPr>
        <p:txBody>
          <a:bodyPr>
            <a:noAutofit/>
          </a:bodyPr>
          <a:lstStyle/>
          <a:p>
            <a:r>
              <a:rPr lang="en-IN" b="1" dirty="0"/>
              <a:t>Building Trust with Clients</a:t>
            </a:r>
            <a:br>
              <a:rPr lang="en-IN" b="1" dirty="0"/>
            </a:b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62711-DCB8-B869-DB98-499AA7A63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75348"/>
          </a:xfrm>
        </p:spPr>
        <p:txBody>
          <a:bodyPr>
            <a:normAutofit/>
          </a:bodyPr>
          <a:lstStyle/>
          <a:p>
            <a:r>
              <a:rPr lang="en-US" sz="2500" b="1" dirty="0"/>
              <a:t>Keep promises and meet deadlines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Be consistent in your behavior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Provide accurate information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Follow up when required</a:t>
            </a:r>
          </a:p>
          <a:p>
            <a:pPr marL="0" indent="0">
              <a:buNone/>
            </a:pP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2163961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6E99A-7231-5EFE-E1DA-568E28247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66696"/>
            <a:ext cx="11029616" cy="1013800"/>
          </a:xfrm>
        </p:spPr>
        <p:txBody>
          <a:bodyPr>
            <a:noAutofit/>
          </a:bodyPr>
          <a:lstStyle/>
          <a:p>
            <a:r>
              <a:rPr lang="en-IN" b="1" dirty="0"/>
              <a:t>Common Mistakes to Avoid</a:t>
            </a:r>
            <a:br>
              <a:rPr lang="en-IN" b="1" dirty="0"/>
            </a:b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5A7F1-144B-E03C-15D5-44273011A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500" b="1" dirty="0"/>
              <a:t>Ignoring client concerns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Being late or unprepared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Using informal or disrespectful language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Overpromising and underdelivering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5744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9D7A7-E6C0-C155-FF18-65DB9D8A1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279099"/>
            <a:ext cx="11029616" cy="1013800"/>
          </a:xfrm>
        </p:spPr>
        <p:txBody>
          <a:bodyPr>
            <a:noAutofit/>
          </a:bodyPr>
          <a:lstStyle/>
          <a:p>
            <a:r>
              <a:rPr lang="en-US" b="1" dirty="0"/>
              <a:t>Benefits of Good Client Handling</a:t>
            </a:r>
            <a:br>
              <a:rPr lang="en-US" b="1" dirty="0"/>
            </a:b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30AC0-CB80-1F73-F3D6-6CAB7F939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677504"/>
          </a:xfrm>
        </p:spPr>
        <p:txBody>
          <a:bodyPr>
            <a:normAutofit/>
          </a:bodyPr>
          <a:lstStyle/>
          <a:p>
            <a:r>
              <a:rPr lang="en-US" sz="2500" b="1" dirty="0"/>
              <a:t>Better customer satisfaction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Positive word-of-mouth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Strong professional reputation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Increased business growth opportunities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4579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331F6-06C7-6FD0-B2A6-B057D0E33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725FB-1796-4049-567A-3899CB509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249180"/>
          </a:xfrm>
        </p:spPr>
        <p:txBody>
          <a:bodyPr>
            <a:noAutofit/>
          </a:bodyPr>
          <a:lstStyle/>
          <a:p>
            <a:r>
              <a:rPr lang="en-US" sz="2500" b="1" dirty="0"/>
              <a:t>Client handling etiquette is key to professional success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Respect, communication, and patience are essential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Good behavior creates lasting impressions</a:t>
            </a:r>
          </a:p>
          <a:p>
            <a:pPr marL="0" indent="0">
              <a:buNone/>
            </a:pPr>
            <a:endParaRPr lang="en-US" sz="2500" b="1" dirty="0"/>
          </a:p>
          <a:p>
            <a:r>
              <a:rPr lang="en-US" sz="2500" b="1" dirty="0"/>
              <a:t>Professional etiquette leads to long-term relationships</a:t>
            </a:r>
          </a:p>
          <a:p>
            <a:pPr marL="0" indent="0">
              <a:buNone/>
            </a:pPr>
            <a:br>
              <a:rPr lang="en-US" sz="2500" b="1" dirty="0"/>
            </a:br>
            <a:endParaRPr lang="en-IN" sz="2500" b="1" dirty="0"/>
          </a:p>
        </p:txBody>
      </p:sp>
    </p:spTree>
    <p:extLst>
      <p:ext uri="{BB962C8B-B14F-4D97-AF65-F5344CB8AC3E}">
        <p14:creationId xmlns:p14="http://schemas.microsoft.com/office/powerpoint/2010/main" val="2357257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A0828-04EA-60E8-7007-D796F84BA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66696"/>
            <a:ext cx="11029616" cy="1013800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E00D2-7C7C-49EC-A993-E20DCC6EB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8000" b="1" dirty="0"/>
              <a:t>         Thank You</a:t>
            </a:r>
            <a:endParaRPr lang="en-IN" sz="8000" b="1" dirty="0"/>
          </a:p>
        </p:txBody>
      </p:sp>
    </p:spTree>
    <p:extLst>
      <p:ext uri="{BB962C8B-B14F-4D97-AF65-F5344CB8AC3E}">
        <p14:creationId xmlns:p14="http://schemas.microsoft.com/office/powerpoint/2010/main" val="175752029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62</TotalTime>
  <Words>413</Words>
  <Application>Microsoft Office PowerPoint</Application>
  <PresentationFormat>Widescreen</PresentationFormat>
  <Paragraphs>126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Gill Sans MT</vt:lpstr>
      <vt:lpstr>Wingdings 2</vt:lpstr>
      <vt:lpstr>Dividend</vt:lpstr>
      <vt:lpstr>Etiquette for Handling Clients and Customers </vt:lpstr>
      <vt:lpstr> Introduction </vt:lpstr>
      <vt:lpstr>   Meaning of Client Handling Etiquette  </vt:lpstr>
      <vt:lpstr>Importance in Corporate Life  </vt:lpstr>
      <vt:lpstr>First Impression Matters </vt:lpstr>
      <vt:lpstr>Effective Communication Skills </vt:lpstr>
      <vt:lpstr> Active Listening  </vt:lpstr>
      <vt:lpstr>Professional Behavior </vt:lpstr>
      <vt:lpstr> Handling Difficult Clients </vt:lpstr>
      <vt:lpstr> Body Language and Non-Verbal Etiquette  </vt:lpstr>
      <vt:lpstr>Telephone and Email Etiquette  </vt:lpstr>
      <vt:lpstr>Building Trust with Clients  </vt:lpstr>
      <vt:lpstr>Common Mistakes to Avoid  </vt:lpstr>
      <vt:lpstr>Benefits of Good Client Handling  </vt:lpstr>
      <vt:lpstr>Conclusion </vt:lpstr>
      <vt:lpstr>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Dhrumil Patel</dc:creator>
  <cp:lastModifiedBy>Dhrumil Patel</cp:lastModifiedBy>
  <cp:revision>3</cp:revision>
  <dcterms:created xsi:type="dcterms:W3CDTF">2026-02-10T03:27:10Z</dcterms:created>
  <dcterms:modified xsi:type="dcterms:W3CDTF">2026-04-01T11:16:37Z</dcterms:modified>
</cp:coreProperties>
</file>